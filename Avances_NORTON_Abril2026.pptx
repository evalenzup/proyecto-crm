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8FF0"/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8FF0"/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243370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2E5FC2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05840"/>
            <a:ext cx="1645920" cy="320040"/>
          </a:xfrm>
          <a:prstGeom prst="rect">
            <a:avLst/>
          </a:prstGeom>
          <a:solidFill>
            <a:srgbClr val="4A8FF0"/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CRM / ERP  ·  NORTON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Reporte de Avances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8DCF8"/>
                </a:solidFill>
              </a:rPr>
              <a:t>Abril 2026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5029200" cy="0"/>
          </a:xfrm>
          <a:prstGeom prst="line">
            <a:avLst/>
          </a:prstGeom>
          <a:noFill/>
          <a:ln w="19050">
            <a:solidFill>
              <a:srgbClr val="4A8F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CF8"/>
                </a:solidFill>
              </a:rPr>
              <a:t>Sprint 4 completado  ·  Sprint 5 en progreso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21E4A"/>
          </a:solidFill>
          <a:ln w="12700">
            <a:solidFill>
              <a:srgbClr val="121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99"/>
                </a:solidFill>
              </a:rPr>
              <a:t>Documento confidencial  ·  Equipo de Desarrollo NORTON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Resumen Ejecutivo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7315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DCF8"/>
                </a:solidFill>
              </a:rPr>
              <a:t>Abril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011680" cy="274320"/>
          </a:xfrm>
          <a:prstGeom prst="rect">
            <a:avLst>
              <a:gd name="adj" fmla="val 13333"/>
            </a:avLst>
          </a:prstGeom>
          <a:solidFill>
            <a:srgbClr val="2E5FC2"/>
          </a:solidFill>
          <a:ln w="12700">
            <a:solidFill>
              <a:srgbClr val="2E5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SPRINT 4 — COMPLETADO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Los módulos core del CRM/ERP NORTON están en operación activa. El Sprint 4 (Marzo 2026) entregó mejoras significativas al Dashboard Ejecutivo, al sistema de Auditoría y a la seguridad de autenticación, consolidando la plataforma para el siguiente ciclo.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1965960" cy="11430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1965960" cy="54864"/>
          </a:xfrm>
          <a:prstGeom prst="rect">
            <a:avLst/>
          </a:prstGeom>
          <a:solidFill>
            <a:srgbClr val="4A8FF0"/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57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CF8"/>
                </a:solidFill>
              </a:rPr>
              <a:t>Módulos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8DCF8"/>
                </a:solidFill>
              </a:rPr>
              <a:t>en producción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1920240"/>
            <a:ext cx="1965960" cy="11430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920240"/>
            <a:ext cx="1965960" cy="54864"/>
          </a:xfrm>
          <a:prstGeom prst="rect">
            <a:avLst/>
          </a:prstGeom>
          <a:solidFill>
            <a:srgbClr val="4A8FF0"/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057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14600" y="26060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CF8"/>
                </a:solidFill>
              </a:rPr>
              <a:t>Mejoras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8DCF8"/>
                </a:solidFill>
              </a:rPr>
              <a:t>críticas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920240"/>
            <a:ext cx="1965960" cy="11430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920240"/>
            <a:ext cx="1965960" cy="54864"/>
          </a:xfrm>
          <a:prstGeom prst="rect">
            <a:avLst/>
          </a:prstGeom>
          <a:solidFill>
            <a:srgbClr val="4A8FF0"/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057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100%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663440" y="26060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CF8"/>
                </a:solidFill>
              </a:rPr>
              <a:t>Cobertura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8DCF8"/>
                </a:solidFill>
              </a:rPr>
              <a:t>de Auditoría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12280" y="1920240"/>
            <a:ext cx="1965960" cy="11430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920240"/>
            <a:ext cx="1965960" cy="54864"/>
          </a:xfrm>
          <a:prstGeom prst="rect">
            <a:avLst/>
          </a:prstGeom>
          <a:solidFill>
            <a:srgbClr val="4A8FF0"/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057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12280" y="26060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CF8"/>
                </a:solidFill>
              </a:rPr>
              <a:t>Sprint actual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8DCF8"/>
                </a:solidFill>
              </a:rPr>
              <a:t>Presupuestos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Principales Logros del Período: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56616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Dashboard Ejecutivo con KPIs analíticos, alertas y métricas MTD/YTD en tiempo real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Auditoría empresarial con cobertura completa: login, presupuestos, emails y exports Excel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Refresh Tokens con rotación automática — sesiones seguras sin reautenticación frecuente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Correcciones críticas en el módulo de Pagos: overpayments, input manual y tolerancia inteligente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CF8"/>
                </a:solidFill>
              </a:rPr>
              <a:t>Proyecto NORTON · CRM/ERP ·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Estado del Proyecto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7315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DCF8"/>
                </a:solidFill>
              </a:rPr>
              <a:t>Roadmap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325880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S1-4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1143000" cy="228600"/>
          </a:xfrm>
          <a:prstGeom prst="rect">
            <a:avLst/>
          </a:prstGeom>
          <a:solidFill>
            <a:srgbClr val="0A7A6E"/>
          </a:solidFill>
          <a:ln w="12700">
            <a:solidFill>
              <a:srgbClr val="0A7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898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FFFFFF"/>
                </a:solidFill>
              </a:rPr>
              <a:t>✓ COMPLETADO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Core 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Egresos / Pagos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Dashboard / Auditoría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3794760"/>
            <a:ext cx="1325880" cy="365760"/>
          </a:xfrm>
          <a:prstGeom prst="rect">
            <a:avLst/>
          </a:prstGeom>
          <a:solidFill>
            <a:srgbClr val="0A7A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794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Dic 25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– Mar 26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37360" y="868680"/>
            <a:ext cx="1325880" cy="3291840"/>
          </a:xfrm>
          <a:prstGeom prst="rect">
            <a:avLst/>
          </a:prstGeom>
          <a:solidFill>
            <a:srgbClr val="2E5FC2"/>
          </a:solidFill>
          <a:ln w="12700">
            <a:solidFill>
              <a:srgbClr val="2E5F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37360" y="9601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1389888"/>
            <a:ext cx="1143000" cy="228600"/>
          </a:xfrm>
          <a:prstGeom prst="rect">
            <a:avLst/>
          </a:prstGeom>
          <a:solidFill>
            <a:srgbClr val="2E5FC2"/>
          </a:solidFill>
          <a:ln w="12700">
            <a:solidFill>
              <a:srgbClr val="2E5F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3898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FFFFFF"/>
                </a:solidFill>
              </a:rPr>
              <a:t>► EN CURSO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783080" y="173736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Presupuestos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 Cotizaciones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37360" y="3794760"/>
            <a:ext cx="1325880" cy="365760"/>
          </a:xfrm>
          <a:prstGeom prst="rect">
            <a:avLst/>
          </a:prstGeom>
          <a:solidFill>
            <a:srgbClr val="1E4DB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794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Abr 2026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0" y="868680"/>
            <a:ext cx="1325880" cy="329184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9601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</a:rPr>
              <a:t>S6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91840" y="1389888"/>
            <a:ext cx="1143000" cy="22860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3898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FFFFFF"/>
                </a:solidFill>
              </a:rPr>
              <a:t>PENDIENTE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246120" y="173736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Catálogos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Operativos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3794760"/>
            <a:ext cx="1325880" cy="365760"/>
          </a:xfrm>
          <a:prstGeom prst="rect">
            <a:avLst/>
          </a:prstGeom>
          <a:solidFill>
            <a:srgbClr val="78909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794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May 2026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63440" y="868680"/>
            <a:ext cx="1325880" cy="329184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9601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</a:rPr>
              <a:t>S7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389888"/>
            <a:ext cx="1143000" cy="22860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3898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FFFFFF"/>
                </a:solidFill>
              </a:rPr>
              <a:t>PENDIENTE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709160" y="173736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Motor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Agenda V1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794760"/>
            <a:ext cx="1325880" cy="365760"/>
          </a:xfrm>
          <a:prstGeom prst="rect">
            <a:avLst/>
          </a:prstGeom>
          <a:solidFill>
            <a:srgbClr val="78909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794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Jun 2026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126480" y="868680"/>
            <a:ext cx="1325880" cy="329184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26480" y="9601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</a:rPr>
              <a:t>S8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17920" y="1389888"/>
            <a:ext cx="1143000" cy="22860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3898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FFFFFF"/>
                </a:solidFill>
              </a:rPr>
              <a:t>PENDIENTE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172200" y="173736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Control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Inventarios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3794760"/>
            <a:ext cx="1325880" cy="365760"/>
          </a:xfrm>
          <a:prstGeom prst="rect">
            <a:avLst/>
          </a:prstGeom>
          <a:solidFill>
            <a:srgbClr val="78909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794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Jul 2026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589520" y="868680"/>
            <a:ext cx="1325880" cy="329184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89520" y="9601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</a:rPr>
              <a:t>S9-12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680960" y="1389888"/>
            <a:ext cx="1143000" cy="22860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13898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80" kern="0" dirty="0">
                <a:solidFill>
                  <a:srgbClr val="FFFFFF"/>
                </a:solidFill>
              </a:rPr>
              <a:t>PENDIENTE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7635240" y="173736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Agenda V2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Móvil · BI · GoLive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89520" y="3794760"/>
            <a:ext cx="1325880" cy="365760"/>
          </a:xfrm>
          <a:prstGeom prst="rect">
            <a:avLst/>
          </a:prstGeom>
          <a:solidFill>
            <a:srgbClr val="78909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0" y="3794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Ago-Nov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2026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371600" y="443484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45920" y="44165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Completado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0" y="4434840"/>
            <a:ext cx="201168" cy="201168"/>
          </a:xfrm>
          <a:prstGeom prst="rect">
            <a:avLst/>
          </a:prstGeom>
          <a:solidFill>
            <a:srgbClr val="2E5FC2"/>
          </a:solidFill>
          <a:ln w="12700">
            <a:solidFill>
              <a:srgbClr val="2E5F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31920" y="44165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En Curso (actual)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43600" y="4434840"/>
            <a:ext cx="201168" cy="20116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44165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Planificado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CF8"/>
                </a:solidFill>
              </a:rPr>
              <a:t>Proyecto NORTON · CRM/ERP ·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 Ejecutivo &amp; KPIs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DCF8"/>
                </a:solidFill>
              </a:rPr>
              <a:t>Sprint 4 · Mar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206240" cy="64008"/>
          </a:xfrm>
          <a:prstGeom prst="rect">
            <a:avLst/>
          </a:prstGeom>
          <a:solidFill>
            <a:srgbClr val="2E5FC2"/>
          </a:solidFill>
          <a:ln w="12700">
            <a:solidFill>
              <a:srgbClr val="2E5F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41832"/>
            <a:ext cx="411480" cy="411480"/>
          </a:xfrm>
          <a:prstGeom prst="ellipse">
            <a:avLst/>
          </a:prstGeom>
          <a:solidFill>
            <a:srgbClr val="2E5FC2">
              <a:alpha val="15000"/>
            </a:srgbClr>
          </a:solidFill>
          <a:ln w="12700">
            <a:solidFill>
              <a:srgbClr val="2E5F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23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FC2"/>
                </a:solidFill>
              </a:rPr>
              <a:t>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418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KPIs Analíticos Integrados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435608"/>
            <a:ext cx="38770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Los indicadores financieros clave se integran directamente en la pantalla principal del dashboard, sin necesidad de navegar a secciones separadas.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777240"/>
            <a:ext cx="42062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941832"/>
            <a:ext cx="411480" cy="411480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923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9418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Alertas Inteligentes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35608"/>
            <a:ext cx="38770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Tarjetas de alerta para borradores pendientes de timbrar y facturas próximas a vencer. Visibilidad inmediata del estado de cobranza.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51760"/>
            <a:ext cx="4206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16352"/>
            <a:ext cx="411480" cy="41148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98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8163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Concentración de Cartera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" y="3310128"/>
            <a:ext cx="38770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Agrupación por RFC con nombre fiscal y nombre comercial visible. Elimina duplicados en clientes multi-empresa.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65176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651760"/>
            <a:ext cx="4206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2816352"/>
            <a:ext cx="411480" cy="4114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798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▣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8163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</a:rPr>
              <a:t>Tarjetas MTD + YTD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3310128"/>
            <a:ext cx="38770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Métricas de Month-to-Date y Year-to-Date combinadas por concepto en una misma tarjeta. Comparación de período instantánea.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solidFill>
            <a:srgbClr val="C8DCF8">
              <a:alpha val="60000"/>
            </a:srgbClr>
          </a:solidFill>
          <a:ln w="12700">
            <a:solidFill>
              <a:srgbClr val="C8D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4531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5E"/>
                </a:solidFill>
              </a:rPr>
              <a:t>✓  Estandarización completa de Timezone Tijuana (UTC-7) en todas las métricas y reportes del dashboard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CF8"/>
                </a:solidFill>
              </a:rPr>
              <a:t>Proyecto NORTON · CRM/ERP ·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Módulo de Auditoría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DCF8"/>
                </a:solidFill>
              </a:rPr>
              <a:t>Sprint 4 · Mar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Cobertura Ampliada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Entidad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Evento Registrado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</a:rPr>
                        <a:t>Empresa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</a:rPr>
                        <a:t>Creación y edición de datos de empresa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</a:rPr>
                        <a:t>Presupuestos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</a:rPr>
                        <a:t>Alta, edición y cambio de estado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</a:rPr>
                        <a:t>Login / Logout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</a:rPr>
                        <a:t>Registro de sesiones activas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</a:rPr>
                        <a:t>Envío de Emails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</a:rPr>
                        <a:t>Trazabilidad de comunicaciones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</a:rPr>
                        <a:t>Exports Excel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</a:rPr>
                        <a:t>Quién exportó, cuándo y qué módulo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</a:rPr>
                        <a:t>Facturas / Pagos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</a:rPr>
                        <a:t>Todos los eventos de facturación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804672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804672"/>
            <a:ext cx="4114800" cy="5486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914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Mejoras en Frontend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417320"/>
            <a:ext cx="3931920" cy="777240"/>
          </a:xfrm>
          <a:prstGeom prst="rect">
            <a:avLst/>
          </a:prstGeom>
          <a:solidFill>
            <a:srgbClr val="F4F7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03520" y="14721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Confirmaciones Destructivas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303520" y="174650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Diálogos de confirmación en todas las acciones irreversibles (eliminar, cancelar, anular). Previene errores por click accidental.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2331720"/>
            <a:ext cx="3931920" cy="777240"/>
          </a:xfrm>
          <a:prstGeom prst="rect">
            <a:avLst/>
          </a:prstGeom>
          <a:solidFill>
            <a:srgbClr val="F4F7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03520" y="23865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Banner de Estado Offline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303520" y="266090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Indicador visual cuando el usuario pierde conexión a internet. Mejora la experiencia en redes inestables.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754880" y="3246120"/>
            <a:ext cx="3931920" cy="777240"/>
          </a:xfrm>
          <a:prstGeom prst="rect">
            <a:avLst/>
          </a:prstGeom>
          <a:solidFill>
            <a:srgbClr val="F4F7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33009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Tipado Fuerte en Servicios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303520" y="357530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Interfaces TypeScript en todos los servicios frontend. Reduce errores en tiempo de compilación y mejora el mantenimiento.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CF8"/>
                </a:solidFill>
              </a:rPr>
              <a:t>Proyecto NORTON · CRM/ERP ·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Seguridad y Correcciones Críticas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040880" y="73152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DCF8"/>
                </a:solidFill>
              </a:rPr>
              <a:t>Sprint 4 · Mar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26517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54864"/>
          </a:xfrm>
          <a:prstGeom prst="rect">
            <a:avLst/>
          </a:prstGeom>
          <a:solidFill>
            <a:srgbClr val="4A8FF0"/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502920" cy="502920"/>
          </a:xfrm>
          <a:prstGeom prst="ellipse">
            <a:avLst/>
          </a:prstGeom>
          <a:solidFill>
            <a:srgbClr val="4A8FF0">
              <a:alpha val="80000"/>
            </a:srgbClr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Refresh Tokens con Rotación Automática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C8DCF8"/>
                </a:solidFill>
              </a:rPr>
              <a:t>Tokens de acceso de corta duración (15 min) + refresh tokens de larga duración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C8DCF8"/>
                </a:solidFill>
              </a:rPr>
              <a:t>Rotación automática: cada uso genera un nuevo refresh token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C8DCF8"/>
                </a:solidFill>
              </a:rPr>
              <a:t>Revocación inmediata al detectar reutilización sospechosa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C8DCF8"/>
                </a:solidFill>
              </a:rPr>
              <a:t>Sesiones persistentes sin comprometer la seguridad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C8DCF8"/>
                </a:solidFill>
              </a:rPr>
              <a:t>Compatible con múltiples dispositivos por usuario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1148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77240"/>
            <a:ext cx="41148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960120"/>
            <a:ext cx="502920" cy="50292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4068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Pagos &amp; Validaciones — Correcciones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508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Input manual de monto —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Permite ingresar importes directamente en el campo de pago.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9842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Tolerancia para overpayments —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Algoritmo inteligente que acepta pagos con diferencia mínima de centavos.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245973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Lógica de acumulación —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Restaurada la suma correcta en pagos múltiples y sobrepagos.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9352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Validación de RFC (SAT) —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Formato validado al registrar clientes y empresas según especificación del SAT.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777240"/>
          </a:xfrm>
          <a:prstGeom prst="rect">
            <a:avLst/>
          </a:prstGeom>
          <a:solidFill>
            <a:srgbClr val="F4F7FC"/>
          </a:solidFill>
          <a:ln w="6350">
            <a:solidFill>
              <a:srgbClr val="C8D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39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Impacto en Operaciones: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0" y="363931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Estas correcciones eliminaron bloqueos operativos reportados por el equipo administrativo. Los complementos de pago ahora timbran correctamente para el 100% de los casos que previamente fallaban por redondeo o diferencias de centavos.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CF8"/>
                </a:solidFill>
              </a:rPr>
              <a:t>Proyecto NORTON · CRM/ERP ·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8FF0"/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43370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2377440" cy="292608"/>
          </a:xfrm>
          <a:prstGeom prst="rect">
            <a:avLst/>
          </a:prstGeom>
          <a:solidFill>
            <a:srgbClr val="2E5FC2"/>
          </a:solidFill>
          <a:ln w="12700">
            <a:solidFill>
              <a:srgbClr val="2E5F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► SPRINT 5 · EN CURSO · ABRIL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Módulo de Presupuestos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8DCF8"/>
                </a:solidFill>
              </a:rPr>
              <a:t>y Cotizaciones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114800" cy="960120"/>
          </a:xfrm>
          <a:prstGeom prst="rect">
            <a:avLst/>
          </a:prstGeom>
          <a:solidFill>
            <a:srgbClr val="243370"/>
          </a:solidFill>
          <a:ln w="12700">
            <a:solidFill>
              <a:srgbClr val="2E5F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331720"/>
            <a:ext cx="54864" cy="960120"/>
          </a:xfrm>
          <a:prstGeom prst="rect">
            <a:avLst/>
          </a:prstGeom>
          <a:solidFill>
            <a:srgbClr val="2E5FC2"/>
          </a:solidFill>
          <a:ln w="12700">
            <a:solidFill>
              <a:srgbClr val="2E5F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Generación de Presupuestos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8"/>
                </a:solidFill>
              </a:rPr>
              <a:t>Formulario completo con líneas de concepto, precios, descuentos e impuestos. Soporte multi-empresa.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14800" cy="960120"/>
          </a:xfrm>
          <a:prstGeom prst="rect">
            <a:avLst/>
          </a:prstGeom>
          <a:solidFill>
            <a:srgbClr val="24337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331720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PDF con Plantilla Institucional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8"/>
                </a:solidFill>
              </a:rPr>
              <a:t>Exportación a PDF con logotipo de empresa, datos fiscales, folio y tabla de conceptos formateados.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114800" cy="960120"/>
          </a:xfrm>
          <a:prstGeom prst="rect">
            <a:avLst/>
          </a:prstGeom>
          <a:solidFill>
            <a:srgbClr val="24337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02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Flujo de Estados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8"/>
                </a:solidFill>
              </a:rPr>
              <a:t>Borrador  →  Enviado  →  Aceptado  →  Rechazado. Historial de cambios con fecha y usuario.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3429000"/>
            <a:ext cx="4114800" cy="960120"/>
          </a:xfrm>
          <a:prstGeom prst="rect">
            <a:avLst/>
          </a:prstGeom>
          <a:solidFill>
            <a:srgbClr val="24337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429000"/>
            <a:ext cx="54864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502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Semilla de Orden de Servicio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3794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8"/>
                </a:solidFill>
              </a:rPr>
              <a:t>Un presupuesto Aceptado puede convertirse en una Orden de Servicio futura (base para Sprint 7).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21E4A"/>
          </a:solidFill>
          <a:ln w="12700">
            <a:solidFill>
              <a:srgbClr val="121E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CF8"/>
                </a:solidFill>
              </a:rPr>
              <a:t>Entregable: Módulo de Presupuestos activo en producción al cierre del Sprint 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Roadmap 2026 — Sprints Pendientes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822960"/>
          </a:xfrm>
          <a:prstGeom prst="rect">
            <a:avLst/>
          </a:prstGeom>
          <a:solidFill>
            <a:srgbClr val="1A2B5E"/>
          </a:solidFill>
          <a:ln w="19050">
            <a:solidFill>
              <a:srgbClr val="2E5F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" cy="822960"/>
          </a:xfrm>
          <a:prstGeom prst="rect">
            <a:avLst/>
          </a:prstGeom>
          <a:solidFill>
            <a:srgbClr val="2E5FC2"/>
          </a:solidFill>
          <a:ln w="12700">
            <a:solidFill>
              <a:srgbClr val="2E5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95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2252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ABR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" y="89611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Presupuestos y Cotizaciones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22529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8"/>
                </a:solidFill>
              </a:rPr>
              <a:t>PDF, estados, semilla de OS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49040" y="1005840"/>
            <a:ext cx="548640" cy="228600"/>
          </a:xfrm>
          <a:prstGeom prst="rect">
            <a:avLst/>
          </a:prstGeom>
          <a:solidFill>
            <a:srgbClr val="4A8FF0"/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005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AHORA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83080"/>
            <a:ext cx="50292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196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21854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8680" y="18562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Catálogos Operativos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18541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Técnicos, Vehículos, Servicios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43200"/>
            <a:ext cx="50292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797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31455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JUN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81635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Motor de Agenda V1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14553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Calendario / Kanban, validación de disponibilidad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03320"/>
            <a:ext cx="50292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398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1056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JUL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68680" y="377647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Control de Inventarios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10565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Insumos, Productos, Herramientas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82296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822960"/>
            <a:ext cx="502920" cy="8229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8595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2252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AGO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349240" y="89611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Agenda V2 + App Móvil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49240" y="122529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Técnicos en campo, pre-facturas automáticas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178308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783080"/>
            <a:ext cx="502920" cy="8229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8196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18541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SEP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349240" y="18562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Automatización de Ingresos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9240" y="218541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One-Click Billing + Certificados PDF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2743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743200"/>
            <a:ext cx="502920" cy="8229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7797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1455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OCT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349240" y="281635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Dashboards BI + Mapas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49240" y="314553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KPIs operativos, zonas de calor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370332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703320"/>
            <a:ext cx="5029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37398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S12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54880" y="41056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NOV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349240" y="377647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Roles Finales + Go-Live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49240" y="410565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UAT staging, entrega institucional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CF8"/>
                </a:solidFill>
              </a:rPr>
              <a:t>Proyecto NORTON · CRM/ERP ·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8FF0"/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8FF0"/>
          </a:solidFill>
          <a:ln w="12700">
            <a:solidFill>
              <a:srgbClr val="4A8F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243370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¡Gracias!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657600" cy="0"/>
          </a:xfrm>
          <a:prstGeom prst="line">
            <a:avLst/>
          </a:prstGeom>
          <a:noFill/>
          <a:ln w="19050">
            <a:solidFill>
              <a:srgbClr val="4A8F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03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8"/>
                </a:solidFill>
              </a:rPr>
              <a:t>Seguimos avanzando hacia la visión completa del CRM/ERP NORTON.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5029200" cy="1371600"/>
          </a:xfrm>
          <a:prstGeom prst="rect">
            <a:avLst/>
          </a:prstGeom>
          <a:solidFill>
            <a:srgbClr val="243370"/>
          </a:solidFill>
          <a:ln w="6350">
            <a:solidFill>
              <a:srgbClr val="2E5F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52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DCF8"/>
                </a:solidFill>
              </a:rPr>
              <a:t>Contacto del equipo de desarrollo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Próxima entrega: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Sprint 5 — Módulo de Presupuestos (fin de Abril 2026)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Sprint 6 —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Catálogos Operativos (Mayo 2026)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38679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Meta 2026: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Go-Live completo Noviembre 2026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21E4A"/>
          </a:solidFill>
          <a:ln w="12700">
            <a:solidFill>
              <a:srgbClr val="121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Proyecto NORTON · CRM/ERP · Reporte Abril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Avances: Abril 2026</dc:title>
  <dc:subject>PptxGenJS Presentation</dc:subject>
  <dc:creator>Proyecto NORTON</dc:creator>
  <cp:lastModifiedBy>Proyecto NORTON</cp:lastModifiedBy>
  <cp:revision>1</cp:revision>
  <dcterms:created xsi:type="dcterms:W3CDTF">2026-04-21T03:48:49Z</dcterms:created>
  <dcterms:modified xsi:type="dcterms:W3CDTF">2026-04-21T03:48:49Z</dcterms:modified>
</cp:coreProperties>
</file>